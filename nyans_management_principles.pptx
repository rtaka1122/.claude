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73152" cy="29260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A623"/>
                </a:solidFill>
              </a:rPr>
              <a:t>Nyans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マネジメント・プリンシプル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8C8"/>
                </a:solidFill>
              </a:rPr>
              <a:t>Management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</a:rPr>
              <a:t>経営陣協議用  |  2026-04-01  |  原案（協議中）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5603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</a:rPr>
              <a:t>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B8C8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この場で決めること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C8"/>
                </a:solidFill>
              </a:rPr>
              <a:t>本日のゴール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57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657600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94F3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言葉への合意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C8"/>
                </a:solidFill>
              </a:rPr>
              <a:t>本プリンシプルの表現に全員が納得しているか
合意 or 修正箇所の特定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234440"/>
            <a:ext cx="3657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234440"/>
            <a:ext cx="3657600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17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94F37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057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現状とのギャップ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6517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C8"/>
                </a:solidFill>
              </a:rPr>
              <a:t>自分たちの現状と、どれくらいズレがあるか
認識を合わせる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1234440"/>
            <a:ext cx="36576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234440"/>
            <a:ext cx="3657600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417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94F37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057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最初の一手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6517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C8"/>
                </a:solidFill>
              </a:rPr>
              <a:t>まず何から動かすか
アクションを決定する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B8C8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本日のアジェンダ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0800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1.  基本思想（Core Philosophy）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934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</a:rPr>
              <a:t>共通の哲学・言語を確認する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67128"/>
            <a:ext cx="50800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2.  マネージャーの定義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9631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</a:rPr>
              <a:t>役割・スタンスへの合意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54096"/>
            <a:ext cx="50800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62656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3.  3 つの柱（Pillars）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</a:rPr>
              <a:t>行動指針の具体化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41064"/>
            <a:ext cx="50800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9624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4.  Do / Don't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7024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</a:rPr>
              <a:t>推奨・禁止行動の確認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28032"/>
            <a:ext cx="50800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36592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5.  セルフチェック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5721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</a:rPr>
              <a:t>運用方法を決める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14999"/>
            <a:ext cx="50800" cy="5943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623559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6.  クロージング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44183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</a:rPr>
              <a:t>アクション・担当・期限を決定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B8C8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1. マネジメントの基本思想（Core Philosophy）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080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</a:rPr>
              <a:t>「譲れない誇りを土台に、圧倒的スピードで顧客インサイトに迫るチームを創る」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C0BA"/>
                </a:solidFill>
              </a:rPr>
              <a:t>Nyans の猫メタファー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C8"/>
                </a:solidFill>
              </a:rPr>
              <a:t>猫が高い場所から躊躇なくジャンプできるのは、
「ここなら安全に着地できる」という確かな足場があるから。
→ 守るべき境界線を明確にすることで、
　 メンバーは忖度なく最速で動ける。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606040"/>
            <a:ext cx="402336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2606040"/>
            <a:ext cx="4023360" cy="38100"/>
          </a:xfrm>
          <a:prstGeom prst="rect">
            <a:avLst/>
          </a:prstGeom>
          <a:solidFill>
            <a:srgbClr val="39C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2743200"/>
            <a:ext cx="731520" cy="256032"/>
          </a:xfrm>
          <a:prstGeom prst="rect">
            <a:avLst/>
          </a:prstGeom>
          <a:solidFill>
            <a:srgbClr val="39C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27432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2E"/>
                </a:solidFill>
              </a:rPr>
              <a:t>議論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C0BA"/>
                </a:solidFill>
              </a:rPr>
              <a:t>議論 1-A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4290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この哲学に「自分たちらしさ」を感じるか？
違和感のある言葉や、抜け落ちている
視点はあるか？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C0BA"/>
                </a:solidFill>
              </a:rPr>
              <a:t>議論 1-B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「圧倒的スピード」vs「譲れない誇り」
今の Nyans はどちらをより強調すべきか？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B8C8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2. Nyans における「マネージャー」の定義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38328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383280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🛡️  防波堤（シールド）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</a:rPr>
              <a:t>理不尽な要求や過度なノイズから
メンバーを守る盾になること。
心理的安全性をマネージャーが
自ら担保するからこそ、メンバーは
安心して圧倒的スピードで挑戦できる。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188720"/>
            <a:ext cx="338328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1188720"/>
            <a:ext cx="3383280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🏃  成長の伴走者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92024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8C8"/>
                </a:solidFill>
              </a:rPr>
              <a:t>業務を通じて本人の内発的動機
（Will）を引き出すこと。
「この仕事でこのメンバーに
どう成長してほしいか」という
育成責任を負う。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188720"/>
            <a:ext cx="402336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188720"/>
            <a:ext cx="4023360" cy="38100"/>
          </a:xfrm>
          <a:prstGeom prst="rect">
            <a:avLst/>
          </a:prstGeom>
          <a:solidFill>
            <a:srgbClr val="39C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325880"/>
            <a:ext cx="731520" cy="256032"/>
          </a:xfrm>
          <a:prstGeom prst="rect">
            <a:avLst/>
          </a:prstGeom>
          <a:solidFill>
            <a:srgbClr val="39C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258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2E"/>
                </a:solidFill>
              </a:rPr>
              <a:t>議論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C0BA"/>
                </a:solidFill>
              </a:rPr>
              <a:t>議論 2-A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0116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「防波堤」と「伴走者」、
今の自分はどちら寄りか？
足りていないのはどちらか？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C0BA"/>
                </a:solidFill>
              </a:rPr>
              <a:t>議論 2-B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5661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「自分のモノサシを捨てる」は
具体的にどんな場面で難しいか？
直近の事例を一つ挙げてみる。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B8C8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3. マネジメントを支える 3 つの柱（Pillars）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6576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657600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F37"/>
                </a:solidFill>
              </a:rPr>
              <a:t>Pillar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「譲れない土台」×
「圧倒的スピード」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C8"/>
                </a:solidFill>
              </a:rPr>
              <a:t>品質・コンプライアンスは1ミリも妥協しない。
その枠の中では「まずやってみる」を求める。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40480"/>
            <a:ext cx="3291840" cy="12700"/>
          </a:xfrm>
          <a:prstGeom prst="rect">
            <a:avLst/>
          </a:prstGeom>
          <a:solidFill>
            <a:srgbClr val="39C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977639"/>
            <a:ext cx="731520" cy="256032"/>
          </a:xfrm>
          <a:prstGeom prst="rect">
            <a:avLst/>
          </a:prstGeom>
          <a:solidFill>
            <a:srgbClr val="39C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2E"/>
                </a:solidFill>
              </a:rPr>
              <a:t>議論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97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9C0BA"/>
                </a:solidFill>
              </a:rPr>
              <a:t>「絶対に守るべきライン」とは何か？
全員が同じものを思い浮かべているか
今ここで言語化する。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143000"/>
            <a:ext cx="36576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143000"/>
            <a:ext cx="3657600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39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F37"/>
                </a:solidFill>
              </a:rPr>
              <a:t>Pillar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16459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「経験則」を捨て
「事実」で対話する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2468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C8"/>
                </a:solidFill>
              </a:rPr>
              <a:t>判断軸は「ユーザーインサイト」と「データ」のみ。
ヒト（感情）とコト（成果）を切り離して対話。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39" y="3840480"/>
            <a:ext cx="3291840" cy="12700"/>
          </a:xfrm>
          <a:prstGeom prst="rect">
            <a:avLst/>
          </a:prstGeom>
          <a:solidFill>
            <a:srgbClr val="39C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39" y="3977639"/>
            <a:ext cx="731520" cy="256032"/>
          </a:xfrm>
          <a:prstGeom prst="rect">
            <a:avLst/>
          </a:prstGeom>
          <a:solidFill>
            <a:srgbClr val="39C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39" y="397763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2E"/>
                </a:solidFill>
              </a:rPr>
              <a:t>議論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4297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9C0BA"/>
                </a:solidFill>
              </a:rPr>
              <a:t>「ヒトとコトを切り離す」ことが
今の社内でできているか？
できていない場面はいつか？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1143000"/>
            <a:ext cx="36576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1143000"/>
            <a:ext cx="3657600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9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F37"/>
                </a:solidFill>
              </a:rPr>
              <a:t>Pillar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16459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「聴き切る」対話で
可能性を最大化する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2468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C8"/>
                </a:solidFill>
              </a:rPr>
              <a:t>1on1 は「指導の場」ではなく「思考整理の場」。
積極的傾聴で自燃性を育てる。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59" y="3840480"/>
            <a:ext cx="3291840" cy="12700"/>
          </a:xfrm>
          <a:prstGeom prst="rect">
            <a:avLst/>
          </a:prstGeom>
          <a:solidFill>
            <a:srgbClr val="39C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66759" y="3977639"/>
            <a:ext cx="731520" cy="256032"/>
          </a:xfrm>
          <a:prstGeom prst="rect">
            <a:avLst/>
          </a:prstGeom>
          <a:solidFill>
            <a:srgbClr val="39C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59" y="397763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2E"/>
                </a:solidFill>
              </a:rPr>
              <a:t>議論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59" y="4297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9C0BA"/>
                </a:solidFill>
              </a:rPr>
              <a:t>1on1 の現状は？
「聴き切る場」として機能しているか？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B8C8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4. マネージャーの行動原則（Do / Don't）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94960" cy="365760"/>
          </a:xfrm>
          <a:prstGeom prst="rect">
            <a:avLst/>
          </a:prstGeom>
          <a:solidFill>
            <a:srgbClr val="22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0" y="1143000"/>
            <a:ext cx="5394960" cy="365760"/>
          </a:xfrm>
          <a:prstGeom prst="rect">
            <a:avLst/>
          </a:prstGeom>
          <a:solidFill>
            <a:srgbClr val="B0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✅ 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43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❌  Don't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00200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0992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事実（データ・ユーザーの声）に基づき「次はどうすれば最速でうまくいくか」を共に考える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0992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C8"/>
                </a:solidFill>
              </a:rPr>
              <a:t>経験則や感情でメンバーの提案を否定し、過去の失敗を責める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88920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788920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9864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「なぜこの仕事をお願いするか（目的・期待）」をセットで伝え、自由裁量の範囲を決めて任せる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9864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C8"/>
                </a:solidFill>
              </a:rPr>
              <a:t>作業だけ丸投げし、途中のプロセスをマイクロマネジメントする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977639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87367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トラブル・失敗の際、自ら最前線に出てメンバーを背中で守る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087367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C8"/>
                </a:solidFill>
              </a:rPr>
              <a:t>メンバーを矢面に立たせ、自分は安全な場所から批判する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66360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5166360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7608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意見を最後まで「聴き切り」、問いかけで本人の気づきを引き出す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27608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8C8"/>
                </a:solidFill>
              </a:rPr>
              <a:t>話の途中で遮り、自分の「正解」をすぐに押し付ける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00800"/>
            <a:ext cx="731520" cy="256032"/>
          </a:xfrm>
          <a:prstGeom prst="rect">
            <a:avLst/>
          </a:prstGeom>
          <a:solidFill>
            <a:srgbClr val="39C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400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2E"/>
                </a:solidFill>
              </a:rPr>
              <a:t>議論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6400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9C0BA"/>
                </a:solidFill>
              </a:rPr>
              <a:t>議論 4-A: 今の自分が最も「できていない Don't」はどれか？  　議論 4-B: 追加すべき Do / Don't はあるか？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B8C8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5. 経営陣のセルフチェック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C8"/>
                </a:solidFill>
              </a:rPr>
              <a:t>日常の判断に迷った際、自らのスタイルを是正するためのチェックリスト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804672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08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411480" cy="411480"/>
          </a:xfrm>
          <a:prstGeom prst="rect">
            <a:avLst/>
          </a:prstGeom>
          <a:solidFill>
            <a:srgbClr val="1A1A2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46304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「自分の過去の経験則」でジャッジしていないか？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39"/>
            <a:ext cx="804672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508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606039"/>
            <a:ext cx="411480" cy="411480"/>
          </a:xfrm>
          <a:prstGeom prst="rect">
            <a:avLst/>
          </a:prstGeom>
          <a:solidFill>
            <a:srgbClr val="1A1A2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560319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スピードを阻害するような「マイクロマネジメント」をしていないか？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804672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08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03320"/>
            <a:ext cx="411480" cy="411480"/>
          </a:xfrm>
          <a:prstGeom prst="rect">
            <a:avLst/>
          </a:prstGeom>
          <a:solidFill>
            <a:srgbClr val="1A1A2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576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相手の意見を途中で遮らず、最後まで「聴き切って」いるか？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804672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508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800600"/>
            <a:ext cx="411480" cy="411480"/>
          </a:xfrm>
          <a:prstGeom prst="rect">
            <a:avLst/>
          </a:prstGeom>
          <a:solidFill>
            <a:srgbClr val="1A1A2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75488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トラブル時に、自ら「矢面に立つ覚悟」を持てているか？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1143000"/>
            <a:ext cx="301752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1143000"/>
            <a:ext cx="3017520" cy="38100"/>
          </a:xfrm>
          <a:prstGeom prst="rect">
            <a:avLst/>
          </a:prstGeom>
          <a:solidFill>
            <a:srgbClr val="39C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280160"/>
            <a:ext cx="731520" cy="256032"/>
          </a:xfrm>
          <a:prstGeom prst="rect">
            <a:avLst/>
          </a:prstGeom>
          <a:solidFill>
            <a:srgbClr val="39C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2801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2E"/>
                </a:solidFill>
              </a:rPr>
              <a:t>議論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645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C0BA"/>
                </a:solidFill>
              </a:rPr>
              <a:t>議論 5-A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0116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このチェックリストを
「いつ・どこで・どう使うか」
を決める。
例：
・週次定例の冒頭で1問確認
・月次振り返りで全項目チェック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B8C8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6. クロージング：この場で決めること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8C8"/>
                </a:solidFill>
              </a:rPr>
              <a:t>記入しながら合意形成を進める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74320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143000"/>
            <a:ext cx="411480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16128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内容・決定事項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143000"/>
            <a:ext cx="228600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11612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担当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143000"/>
            <a:ext cx="228600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11612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期限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618488"/>
            <a:ext cx="2743200" cy="987552"/>
          </a:xfrm>
          <a:prstGeom prst="rect">
            <a:avLst/>
          </a:prstGeom>
          <a:solidFill>
            <a:srgbClr val="16213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1618488"/>
            <a:ext cx="4114800" cy="987552"/>
          </a:xfrm>
          <a:prstGeom prst="rect">
            <a:avLst/>
          </a:prstGeom>
          <a:solidFill>
            <a:srgbClr val="16213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1618488"/>
            <a:ext cx="2286000" cy="987552"/>
          </a:xfrm>
          <a:prstGeom prst="rect">
            <a:avLst/>
          </a:prstGeom>
          <a:solidFill>
            <a:srgbClr val="16213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84080" y="1618488"/>
            <a:ext cx="2286000" cy="987552"/>
          </a:xfrm>
          <a:prstGeom prst="rect">
            <a:avLst/>
          </a:prstGeom>
          <a:solidFill>
            <a:srgbClr val="16213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84708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言葉の修正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97480"/>
            <a:ext cx="2743200" cy="987552"/>
          </a:xfrm>
          <a:prstGeom prst="rect">
            <a:avLst/>
          </a:prstGeom>
          <a:solidFill>
            <a:srgbClr val="1A1A2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2697480"/>
            <a:ext cx="4114800" cy="987552"/>
          </a:xfrm>
          <a:prstGeom prst="rect">
            <a:avLst/>
          </a:prstGeom>
          <a:solidFill>
            <a:srgbClr val="1A1A2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2697480"/>
            <a:ext cx="2286000" cy="987552"/>
          </a:xfrm>
          <a:prstGeom prst="rect">
            <a:avLst/>
          </a:prstGeom>
          <a:solidFill>
            <a:srgbClr val="1A1A2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84080" y="2697480"/>
            <a:ext cx="2286000" cy="987552"/>
          </a:xfrm>
          <a:prstGeom prst="rect">
            <a:avLst/>
          </a:prstGeom>
          <a:solidFill>
            <a:srgbClr val="1A1A2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26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最初の一手（実践導入）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76472"/>
            <a:ext cx="2743200" cy="987552"/>
          </a:xfrm>
          <a:prstGeom prst="rect">
            <a:avLst/>
          </a:prstGeom>
          <a:solidFill>
            <a:srgbClr val="16213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776472"/>
            <a:ext cx="4114800" cy="987552"/>
          </a:xfrm>
          <a:prstGeom prst="rect">
            <a:avLst/>
          </a:prstGeom>
          <a:solidFill>
            <a:srgbClr val="16213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3776472"/>
            <a:ext cx="2286000" cy="987552"/>
          </a:xfrm>
          <a:prstGeom prst="rect">
            <a:avLst/>
          </a:prstGeom>
          <a:solidFill>
            <a:srgbClr val="16213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3776472"/>
            <a:ext cx="2286000" cy="987552"/>
          </a:xfrm>
          <a:prstGeom prst="rect">
            <a:avLst/>
          </a:prstGeom>
          <a:solidFill>
            <a:srgbClr val="16213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050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共有範囲・展開方法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55464"/>
            <a:ext cx="2743200" cy="987552"/>
          </a:xfrm>
          <a:prstGeom prst="rect">
            <a:avLst/>
          </a:prstGeom>
          <a:solidFill>
            <a:srgbClr val="1A1A2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4855464"/>
            <a:ext cx="4114800" cy="987552"/>
          </a:xfrm>
          <a:prstGeom prst="rect">
            <a:avLst/>
          </a:prstGeom>
          <a:solidFill>
            <a:srgbClr val="1A1A2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06640" y="4855464"/>
            <a:ext cx="2286000" cy="987552"/>
          </a:xfrm>
          <a:prstGeom prst="rect">
            <a:avLst/>
          </a:prstGeom>
          <a:solidFill>
            <a:srgbClr val="1A1A2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84080" y="4855464"/>
            <a:ext cx="2286000" cy="987552"/>
          </a:xfrm>
          <a:prstGeom prst="rect">
            <a:avLst/>
          </a:prstGeom>
          <a:solidFill>
            <a:srgbClr val="1A1A2E"/>
          </a:solidFill>
          <a:ln w="6350">
            <a:solidFill>
              <a:srgbClr val="33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084064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次回確認日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B8C8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0"/>
            <a:ext cx="11274552" cy="1905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46304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</a:rPr>
              <a:t>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603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B8C8"/>
                </a:solidFill>
              </a:rPr>
              <a:t>猫はジャンプする前に、着地点を見極める。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3832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Nyans のマネージャーも、メンバーが安心して跳べる場所をつくり続ける。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8C8"/>
                </a:solidFill>
              </a:rPr>
              <a:t>Nyans Management Principles  |  2026-04-01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B8C8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